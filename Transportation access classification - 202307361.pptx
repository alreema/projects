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B1C34D-6308-4BC0-8E03-32674E5F197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6EBF31C-B01D-4BAC-8C8E-39ED2AC63946}">
      <dgm:prSet/>
      <dgm:spPr/>
      <dgm:t>
        <a:bodyPr/>
        <a:lstStyle/>
        <a:p>
          <a:r>
            <a:rPr lang="en-US" b="0" i="0" baseline="0"/>
            <a:t>Increase dataset size</a:t>
          </a:r>
          <a:endParaRPr lang="en-US"/>
        </a:p>
      </dgm:t>
    </dgm:pt>
    <dgm:pt modelId="{CE4420EC-BF61-48FF-A9E5-54EE5D499368}" type="parTrans" cxnId="{16C2E32D-DC97-4EB2-B802-318B8B0E2D80}">
      <dgm:prSet/>
      <dgm:spPr/>
      <dgm:t>
        <a:bodyPr/>
        <a:lstStyle/>
        <a:p>
          <a:endParaRPr lang="en-US"/>
        </a:p>
      </dgm:t>
    </dgm:pt>
    <dgm:pt modelId="{C8A68E41-4287-466A-AC0A-E8C877E135B0}" type="sibTrans" cxnId="{16C2E32D-DC97-4EB2-B802-318B8B0E2D80}">
      <dgm:prSet/>
      <dgm:spPr/>
      <dgm:t>
        <a:bodyPr/>
        <a:lstStyle/>
        <a:p>
          <a:endParaRPr lang="en-US"/>
        </a:p>
      </dgm:t>
    </dgm:pt>
    <dgm:pt modelId="{F3B7C8FD-A81E-46BA-8285-8AEF9D25594E}">
      <dgm:prSet/>
      <dgm:spPr/>
      <dgm:t>
        <a:bodyPr/>
        <a:lstStyle/>
        <a:p>
          <a:r>
            <a:rPr lang="en-US" b="0" i="0" baseline="0"/>
            <a:t>Try more complex models </a:t>
          </a:r>
          <a:endParaRPr lang="en-US"/>
        </a:p>
      </dgm:t>
    </dgm:pt>
    <dgm:pt modelId="{8FB167D0-478A-4E39-9152-12ADDE484F4B}" type="parTrans" cxnId="{EA9497EA-5EB1-4674-A845-781CA2ABB525}">
      <dgm:prSet/>
      <dgm:spPr/>
      <dgm:t>
        <a:bodyPr/>
        <a:lstStyle/>
        <a:p>
          <a:endParaRPr lang="en-US"/>
        </a:p>
      </dgm:t>
    </dgm:pt>
    <dgm:pt modelId="{87AC9957-40EF-461A-9A2B-9C4C2376DC44}" type="sibTrans" cxnId="{EA9497EA-5EB1-4674-A845-781CA2ABB525}">
      <dgm:prSet/>
      <dgm:spPr/>
      <dgm:t>
        <a:bodyPr/>
        <a:lstStyle/>
        <a:p>
          <a:endParaRPr lang="en-US"/>
        </a:p>
      </dgm:t>
    </dgm:pt>
    <dgm:pt modelId="{BBA288EF-CE1A-4258-B868-08A3FDB5494D}">
      <dgm:prSet/>
      <dgm:spPr/>
      <dgm:t>
        <a:bodyPr/>
        <a:lstStyle/>
        <a:p>
          <a:r>
            <a:rPr lang="en-US" b="0" i="0" baseline="0" dirty="0"/>
            <a:t>Hyperparameter tuning learning rate, batch size, layers</a:t>
          </a:r>
          <a:endParaRPr lang="en-US" dirty="0"/>
        </a:p>
      </dgm:t>
    </dgm:pt>
    <dgm:pt modelId="{4FA9766A-40A4-4C2F-9D86-40DAF72EECF9}" type="parTrans" cxnId="{A97DCDB0-3C60-4308-8DC3-1A7839332C8E}">
      <dgm:prSet/>
      <dgm:spPr/>
      <dgm:t>
        <a:bodyPr/>
        <a:lstStyle/>
        <a:p>
          <a:endParaRPr lang="en-US"/>
        </a:p>
      </dgm:t>
    </dgm:pt>
    <dgm:pt modelId="{5F760925-6DF4-4977-AFB3-715D06CE36D1}" type="sibTrans" cxnId="{A97DCDB0-3C60-4308-8DC3-1A7839332C8E}">
      <dgm:prSet/>
      <dgm:spPr/>
      <dgm:t>
        <a:bodyPr/>
        <a:lstStyle/>
        <a:p>
          <a:endParaRPr lang="en-US"/>
        </a:p>
      </dgm:t>
    </dgm:pt>
    <dgm:pt modelId="{D9C1CA79-2097-476F-AB51-DF1DAEF7EDBD}" type="pres">
      <dgm:prSet presAssocID="{2CB1C34D-6308-4BC0-8E03-32674E5F19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A8C77A-B512-473A-859F-757C67CE6136}" type="pres">
      <dgm:prSet presAssocID="{86EBF31C-B01D-4BAC-8C8E-39ED2AC63946}" presName="hierRoot1" presStyleCnt="0"/>
      <dgm:spPr/>
    </dgm:pt>
    <dgm:pt modelId="{87E220C9-1923-4AAB-B323-C7EE7ECC3A08}" type="pres">
      <dgm:prSet presAssocID="{86EBF31C-B01D-4BAC-8C8E-39ED2AC63946}" presName="composite" presStyleCnt="0"/>
      <dgm:spPr/>
    </dgm:pt>
    <dgm:pt modelId="{67D9033C-702E-49AC-87CC-4EA4308403FA}" type="pres">
      <dgm:prSet presAssocID="{86EBF31C-B01D-4BAC-8C8E-39ED2AC63946}" presName="background" presStyleLbl="node0" presStyleIdx="0" presStyleCnt="3"/>
      <dgm:spPr/>
    </dgm:pt>
    <dgm:pt modelId="{501757CF-DCFE-49F6-8B91-1435A0EDF26E}" type="pres">
      <dgm:prSet presAssocID="{86EBF31C-B01D-4BAC-8C8E-39ED2AC63946}" presName="text" presStyleLbl="fgAcc0" presStyleIdx="0" presStyleCnt="3">
        <dgm:presLayoutVars>
          <dgm:chPref val="3"/>
        </dgm:presLayoutVars>
      </dgm:prSet>
      <dgm:spPr/>
    </dgm:pt>
    <dgm:pt modelId="{BDB1AC87-F70C-4413-A9EF-65C9181ACAE7}" type="pres">
      <dgm:prSet presAssocID="{86EBF31C-B01D-4BAC-8C8E-39ED2AC63946}" presName="hierChild2" presStyleCnt="0"/>
      <dgm:spPr/>
    </dgm:pt>
    <dgm:pt modelId="{2424598D-08CD-4F8E-8687-948E31A09334}" type="pres">
      <dgm:prSet presAssocID="{F3B7C8FD-A81E-46BA-8285-8AEF9D25594E}" presName="hierRoot1" presStyleCnt="0"/>
      <dgm:spPr/>
    </dgm:pt>
    <dgm:pt modelId="{5BA61354-143B-4EB9-AAC3-D9CFA5314247}" type="pres">
      <dgm:prSet presAssocID="{F3B7C8FD-A81E-46BA-8285-8AEF9D25594E}" presName="composite" presStyleCnt="0"/>
      <dgm:spPr/>
    </dgm:pt>
    <dgm:pt modelId="{E8213B98-A09B-4B9D-ABE9-DE60077E1974}" type="pres">
      <dgm:prSet presAssocID="{F3B7C8FD-A81E-46BA-8285-8AEF9D25594E}" presName="background" presStyleLbl="node0" presStyleIdx="1" presStyleCnt="3"/>
      <dgm:spPr/>
    </dgm:pt>
    <dgm:pt modelId="{356DF86C-AFF4-4AA8-8554-77952174DF5D}" type="pres">
      <dgm:prSet presAssocID="{F3B7C8FD-A81E-46BA-8285-8AEF9D25594E}" presName="text" presStyleLbl="fgAcc0" presStyleIdx="1" presStyleCnt="3">
        <dgm:presLayoutVars>
          <dgm:chPref val="3"/>
        </dgm:presLayoutVars>
      </dgm:prSet>
      <dgm:spPr/>
    </dgm:pt>
    <dgm:pt modelId="{0110A32B-9936-4A98-9430-2C068CEE5012}" type="pres">
      <dgm:prSet presAssocID="{F3B7C8FD-A81E-46BA-8285-8AEF9D25594E}" presName="hierChild2" presStyleCnt="0"/>
      <dgm:spPr/>
    </dgm:pt>
    <dgm:pt modelId="{D5985761-661A-44B6-BEBF-1388566040A2}" type="pres">
      <dgm:prSet presAssocID="{BBA288EF-CE1A-4258-B868-08A3FDB5494D}" presName="hierRoot1" presStyleCnt="0"/>
      <dgm:spPr/>
    </dgm:pt>
    <dgm:pt modelId="{1EF40C39-6103-425C-9805-1AC7204B56E2}" type="pres">
      <dgm:prSet presAssocID="{BBA288EF-CE1A-4258-B868-08A3FDB5494D}" presName="composite" presStyleCnt="0"/>
      <dgm:spPr/>
    </dgm:pt>
    <dgm:pt modelId="{33558AD0-CDAA-4B80-870A-9D814751168C}" type="pres">
      <dgm:prSet presAssocID="{BBA288EF-CE1A-4258-B868-08A3FDB5494D}" presName="background" presStyleLbl="node0" presStyleIdx="2" presStyleCnt="3"/>
      <dgm:spPr/>
    </dgm:pt>
    <dgm:pt modelId="{8B7B60D2-4EC8-473E-9D14-15877D2262C7}" type="pres">
      <dgm:prSet presAssocID="{BBA288EF-CE1A-4258-B868-08A3FDB5494D}" presName="text" presStyleLbl="fgAcc0" presStyleIdx="2" presStyleCnt="3">
        <dgm:presLayoutVars>
          <dgm:chPref val="3"/>
        </dgm:presLayoutVars>
      </dgm:prSet>
      <dgm:spPr/>
    </dgm:pt>
    <dgm:pt modelId="{344CC99E-6652-49AD-B3A5-6EFDA45FEFBB}" type="pres">
      <dgm:prSet presAssocID="{BBA288EF-CE1A-4258-B868-08A3FDB5494D}" presName="hierChild2" presStyleCnt="0"/>
      <dgm:spPr/>
    </dgm:pt>
  </dgm:ptLst>
  <dgm:cxnLst>
    <dgm:cxn modelId="{9EFA0618-4F2D-489B-9874-CF5D8136AA80}" type="presOf" srcId="{2CB1C34D-6308-4BC0-8E03-32674E5F197F}" destId="{D9C1CA79-2097-476F-AB51-DF1DAEF7EDBD}" srcOrd="0" destOrd="0" presId="urn:microsoft.com/office/officeart/2005/8/layout/hierarchy1"/>
    <dgm:cxn modelId="{16C2E32D-DC97-4EB2-B802-318B8B0E2D80}" srcId="{2CB1C34D-6308-4BC0-8E03-32674E5F197F}" destId="{86EBF31C-B01D-4BAC-8C8E-39ED2AC63946}" srcOrd="0" destOrd="0" parTransId="{CE4420EC-BF61-48FF-A9E5-54EE5D499368}" sibTransId="{C8A68E41-4287-466A-AC0A-E8C877E135B0}"/>
    <dgm:cxn modelId="{D4FEE963-6943-42EE-88C8-AFB6C82DF204}" type="presOf" srcId="{F3B7C8FD-A81E-46BA-8285-8AEF9D25594E}" destId="{356DF86C-AFF4-4AA8-8554-77952174DF5D}" srcOrd="0" destOrd="0" presId="urn:microsoft.com/office/officeart/2005/8/layout/hierarchy1"/>
    <dgm:cxn modelId="{A197A9A9-C8FB-46B7-BD1E-CBE4EF82494B}" type="presOf" srcId="{86EBF31C-B01D-4BAC-8C8E-39ED2AC63946}" destId="{501757CF-DCFE-49F6-8B91-1435A0EDF26E}" srcOrd="0" destOrd="0" presId="urn:microsoft.com/office/officeart/2005/8/layout/hierarchy1"/>
    <dgm:cxn modelId="{A97DCDB0-3C60-4308-8DC3-1A7839332C8E}" srcId="{2CB1C34D-6308-4BC0-8E03-32674E5F197F}" destId="{BBA288EF-CE1A-4258-B868-08A3FDB5494D}" srcOrd="2" destOrd="0" parTransId="{4FA9766A-40A4-4C2F-9D86-40DAF72EECF9}" sibTransId="{5F760925-6DF4-4977-AFB3-715D06CE36D1}"/>
    <dgm:cxn modelId="{ECB6A8C5-D34C-48BA-B3A2-B67894968A72}" type="presOf" srcId="{BBA288EF-CE1A-4258-B868-08A3FDB5494D}" destId="{8B7B60D2-4EC8-473E-9D14-15877D2262C7}" srcOrd="0" destOrd="0" presId="urn:microsoft.com/office/officeart/2005/8/layout/hierarchy1"/>
    <dgm:cxn modelId="{EA9497EA-5EB1-4674-A845-781CA2ABB525}" srcId="{2CB1C34D-6308-4BC0-8E03-32674E5F197F}" destId="{F3B7C8FD-A81E-46BA-8285-8AEF9D25594E}" srcOrd="1" destOrd="0" parTransId="{8FB167D0-478A-4E39-9152-12ADDE484F4B}" sibTransId="{87AC9957-40EF-461A-9A2B-9C4C2376DC44}"/>
    <dgm:cxn modelId="{8B67C79F-8888-4DF6-A281-1755E2DDAC04}" type="presParOf" srcId="{D9C1CA79-2097-476F-AB51-DF1DAEF7EDBD}" destId="{4EA8C77A-B512-473A-859F-757C67CE6136}" srcOrd="0" destOrd="0" presId="urn:microsoft.com/office/officeart/2005/8/layout/hierarchy1"/>
    <dgm:cxn modelId="{4EDF8D54-A10B-4358-A45B-221B68C6769C}" type="presParOf" srcId="{4EA8C77A-B512-473A-859F-757C67CE6136}" destId="{87E220C9-1923-4AAB-B323-C7EE7ECC3A08}" srcOrd="0" destOrd="0" presId="urn:microsoft.com/office/officeart/2005/8/layout/hierarchy1"/>
    <dgm:cxn modelId="{54D48E35-2E0B-4D5D-8B73-19985565B993}" type="presParOf" srcId="{87E220C9-1923-4AAB-B323-C7EE7ECC3A08}" destId="{67D9033C-702E-49AC-87CC-4EA4308403FA}" srcOrd="0" destOrd="0" presId="urn:microsoft.com/office/officeart/2005/8/layout/hierarchy1"/>
    <dgm:cxn modelId="{218E6C71-D43A-423F-AA6B-5BF7BC70AFF1}" type="presParOf" srcId="{87E220C9-1923-4AAB-B323-C7EE7ECC3A08}" destId="{501757CF-DCFE-49F6-8B91-1435A0EDF26E}" srcOrd="1" destOrd="0" presId="urn:microsoft.com/office/officeart/2005/8/layout/hierarchy1"/>
    <dgm:cxn modelId="{C6C7DC5F-D7E0-4CCB-B1EA-457B87E1CC43}" type="presParOf" srcId="{4EA8C77A-B512-473A-859F-757C67CE6136}" destId="{BDB1AC87-F70C-4413-A9EF-65C9181ACAE7}" srcOrd="1" destOrd="0" presId="urn:microsoft.com/office/officeart/2005/8/layout/hierarchy1"/>
    <dgm:cxn modelId="{2AB725C7-5DD3-4392-BD8F-DD481AFB034C}" type="presParOf" srcId="{D9C1CA79-2097-476F-AB51-DF1DAEF7EDBD}" destId="{2424598D-08CD-4F8E-8687-948E31A09334}" srcOrd="1" destOrd="0" presId="urn:microsoft.com/office/officeart/2005/8/layout/hierarchy1"/>
    <dgm:cxn modelId="{57E99696-006D-43F1-B7CB-F369F589A5EA}" type="presParOf" srcId="{2424598D-08CD-4F8E-8687-948E31A09334}" destId="{5BA61354-143B-4EB9-AAC3-D9CFA5314247}" srcOrd="0" destOrd="0" presId="urn:microsoft.com/office/officeart/2005/8/layout/hierarchy1"/>
    <dgm:cxn modelId="{EC53BF7F-2A65-4390-9BC5-096738FAA463}" type="presParOf" srcId="{5BA61354-143B-4EB9-AAC3-D9CFA5314247}" destId="{E8213B98-A09B-4B9D-ABE9-DE60077E1974}" srcOrd="0" destOrd="0" presId="urn:microsoft.com/office/officeart/2005/8/layout/hierarchy1"/>
    <dgm:cxn modelId="{0741004C-D0CB-4518-AEF4-19B98FB5563C}" type="presParOf" srcId="{5BA61354-143B-4EB9-AAC3-D9CFA5314247}" destId="{356DF86C-AFF4-4AA8-8554-77952174DF5D}" srcOrd="1" destOrd="0" presId="urn:microsoft.com/office/officeart/2005/8/layout/hierarchy1"/>
    <dgm:cxn modelId="{2059AF02-9759-49D0-9951-E093FB845520}" type="presParOf" srcId="{2424598D-08CD-4F8E-8687-948E31A09334}" destId="{0110A32B-9936-4A98-9430-2C068CEE5012}" srcOrd="1" destOrd="0" presId="urn:microsoft.com/office/officeart/2005/8/layout/hierarchy1"/>
    <dgm:cxn modelId="{63F0BC0A-5CC9-4A36-8F88-DD9DF1A839E2}" type="presParOf" srcId="{D9C1CA79-2097-476F-AB51-DF1DAEF7EDBD}" destId="{D5985761-661A-44B6-BEBF-1388566040A2}" srcOrd="2" destOrd="0" presId="urn:microsoft.com/office/officeart/2005/8/layout/hierarchy1"/>
    <dgm:cxn modelId="{DA820CB6-A0CB-4EAB-825D-A4110D5E3F7B}" type="presParOf" srcId="{D5985761-661A-44B6-BEBF-1388566040A2}" destId="{1EF40C39-6103-425C-9805-1AC7204B56E2}" srcOrd="0" destOrd="0" presId="urn:microsoft.com/office/officeart/2005/8/layout/hierarchy1"/>
    <dgm:cxn modelId="{E72DC250-1F09-4317-9AE3-98CC18F4F2B2}" type="presParOf" srcId="{1EF40C39-6103-425C-9805-1AC7204B56E2}" destId="{33558AD0-CDAA-4B80-870A-9D814751168C}" srcOrd="0" destOrd="0" presId="urn:microsoft.com/office/officeart/2005/8/layout/hierarchy1"/>
    <dgm:cxn modelId="{EF97FCCC-D415-41B3-8159-4D777E76C228}" type="presParOf" srcId="{1EF40C39-6103-425C-9805-1AC7204B56E2}" destId="{8B7B60D2-4EC8-473E-9D14-15877D2262C7}" srcOrd="1" destOrd="0" presId="urn:microsoft.com/office/officeart/2005/8/layout/hierarchy1"/>
    <dgm:cxn modelId="{CA164DA0-4D37-43B4-B055-F2AAD8E318D1}" type="presParOf" srcId="{D5985761-661A-44B6-BEBF-1388566040A2}" destId="{344CC99E-6652-49AD-B3A5-6EFDA45FEFB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9033C-702E-49AC-87CC-4EA4308403FA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757CF-DCFE-49F6-8B91-1435A0EDF26E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Increase dataset size</a:t>
          </a:r>
          <a:endParaRPr lang="en-US" sz="2700" kern="1200"/>
        </a:p>
      </dsp:txBody>
      <dsp:txXfrm>
        <a:off x="378614" y="886531"/>
        <a:ext cx="2810360" cy="1744948"/>
      </dsp:txXfrm>
    </dsp:sp>
    <dsp:sp modelId="{E8213B98-A09B-4B9D-ABE9-DE60077E1974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DF86C-AFF4-4AA8-8554-77952174DF5D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Try more complex models </a:t>
          </a:r>
          <a:endParaRPr lang="en-US" sz="2700" kern="1200"/>
        </a:p>
      </dsp:txBody>
      <dsp:txXfrm>
        <a:off x="3946203" y="886531"/>
        <a:ext cx="2810360" cy="1744948"/>
      </dsp:txXfrm>
    </dsp:sp>
    <dsp:sp modelId="{33558AD0-CDAA-4B80-870A-9D814751168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B60D2-4EC8-473E-9D14-15877D2262C7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 dirty="0"/>
            <a:t>Hyperparameter tuning learning rate, batch size, layers</a:t>
          </a:r>
          <a:endParaRPr lang="en-US" sz="2700" kern="1200" dirty="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8FE82-AFC4-4991-99FA-930CF8D02C0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52CF6-170F-4706-A7D8-FEEEB1C7214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888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2CF6-170F-4706-A7D8-FEEEB1C72141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141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2CF6-170F-4706-A7D8-FEEEB1C72141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7346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C8C6-F891-EF51-9831-8E270531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08BFA-CF3A-843A-7E00-9BCD492EF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54280-88BA-C316-542F-2331FA53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D5DE-854C-E9D6-4A84-947AA02D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728A6-BA83-726E-5D3A-87B0F984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4817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8694-843B-00C3-6900-C39A0C0E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B959-DA31-EBA1-99A4-46E2B7D15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15C5B-1815-245D-AB2C-1504F673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1E80-3087-B76D-9694-60864A2B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CA5CC-A14C-08DB-7EF3-27112C3A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224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30AF-65A0-87D5-9384-69E7A483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D2B83-EE27-BD82-554B-378F0B15F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D5A5-53DF-21BD-95D2-3A6C52C4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F8CAB-1F1D-5395-DE89-45F09BF7F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1BD40-26EF-E8EB-85C9-74B71754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225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4FAD-A3AD-1A56-DE5B-3E221278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1125-6EC7-A39D-4C3E-053A2692A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686E9-FD63-B451-11BB-D76A2A214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B4B17-EE34-9E2D-8FA7-E9C93FA5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E16A4-3E8E-1EBE-8DE9-7AD62E43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67119-D386-2045-FA8D-85C80AC0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8285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61C4-737A-3F32-0D60-A8C99F99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B278-A4DA-469F-8DAE-E0BFA5862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CE72B-9DF8-DC24-CCE8-9F5CB8B0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BB07F-B2BD-2C0B-8226-FA5142CBE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5F2D2-6D76-8085-26D8-D3E9D8A4E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ACA83-C357-28D4-2595-0E86DF87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AEAAD-D26F-03CF-852C-BF138923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4FCFAE-22BC-CFDB-BF8D-4A5CE2B3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1491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555D-8744-8D72-0F30-DF2D4CE8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12D7C-92F1-D044-679F-A662D572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32FD1-5196-35EE-C2D2-2F6A18A1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D71B6-3CE3-B07B-C9F3-89B98B46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80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121193-3D7E-12BB-1410-D30EBAA14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35551-A576-D644-2C86-E7842A55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E15B7-F799-BB93-07AD-FC17F92A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6319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A662-8198-706A-C506-9CF88C1EB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171D0-DBEE-E0B7-0AB9-9B991A364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48391-3940-3745-80A8-BA959CBBA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D7709-1591-297C-4B07-A03173CC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68F8E-7CFF-5C46-C9F2-D4D9A5B2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CC2C-D1AF-5954-7159-B2222CCF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8114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774B-3F6B-90B3-121E-8F30B88C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DCE2D-FC5C-477D-3F78-92D7FAE1D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463C8-6493-4D44-2A1E-500838913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EDB46-3135-E7E1-DB85-1F5820D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189C8-4B23-AFB6-38EF-EDA03850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98093-BBDB-D7E1-B724-F768CB4B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6245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2B11-2B62-3B63-2167-1524A2AE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F8202-0BA7-8A96-4D12-7FA27A231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E9A2-61A3-185C-0B2C-2355A726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B7532-1836-17B8-83BE-4AE3122C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BC7AB-25E1-A690-2FCB-D24F48F2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13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EE602-68DA-68D6-FE74-C3459EDBD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F6A1-3E3D-3E21-EA8F-E242A3FF3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6B8C-AEBC-B26D-F488-D0A4A1BB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EFEE4-1E0A-4535-1441-CF594678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FB52-FADF-F346-1F0B-92845ECC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038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543BD-0175-CD59-0A11-6DC1EF64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2A74E-C570-AB13-9D47-BEB1A465C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A8591-8C0A-ED13-257A-58A86153C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703A1-1466-4375-9D89-DA5EB4B5E5D3}" type="datetimeFigureOut">
              <a:rPr lang="en-AE" smtClean="0"/>
              <a:t>28/04/2025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70EE-7233-8CEF-999A-E82A544AC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F28AF-E2FC-CAD1-838C-FDE51BB3C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FEA91-DDD3-4788-8260-A60D8EB4EE9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734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kaggle.com/datasets/mmohaiminulislam/vehicles-image-dataset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MMA2T12bF5I4FzzUFMh5Ghjq6shznVwB?usp=sharing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242C-BCBE-86F2-665D-39E903662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 dirty="0"/>
              <a:t>Transportation access classification</a:t>
            </a:r>
            <a:br>
              <a:rPr lang="en-US" sz="8100" dirty="0"/>
            </a:br>
            <a:r>
              <a:rPr lang="en-US" sz="4400" dirty="0"/>
              <a:t>Using CNNs</a:t>
            </a:r>
            <a:endParaRPr lang="en-AE" sz="8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6E75F-7F29-5052-174A-1D235C5DC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Alreem Alkaabi</a:t>
            </a:r>
          </a:p>
          <a:p>
            <a:pPr algn="l"/>
            <a:r>
              <a:rPr lang="en-US" dirty="0"/>
              <a:t>CSBP301 Artificial Intelligence, Spring 2025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40889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6D4C0-1BC4-7DCD-AE19-413D354E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goal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CB500-88A9-E1CA-BCC1-F70192441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Build a model that </a:t>
            </a:r>
            <a:r>
              <a:rPr lang="en-US" sz="1800" b="1" dirty="0"/>
              <a:t>classifies types of transportation.</a:t>
            </a:r>
            <a:r>
              <a:rPr lang="en-US" sz="1800" dirty="0"/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small car, scooter = access </a:t>
            </a:r>
            <a:r>
              <a:rPr lang="en-US" sz="1800" b="1" dirty="0"/>
              <a:t>granted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others = access </a:t>
            </a:r>
            <a:r>
              <a:rPr lang="en-US" sz="1800" b="1" dirty="0"/>
              <a:t>denied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How?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Using a Conventional Neural Network (CNN)!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Car Vehicles Stock Illustrations – 43,200 Car Vehicles Stock Illustrations,  Vectors &amp; Clipart - Dreamstime">
            <a:extLst>
              <a:ext uri="{FF2B5EF4-FFF2-40B4-BE49-F238E27FC236}">
                <a16:creationId xmlns:a16="http://schemas.microsoft.com/office/drawing/2014/main" id="{8E8BDA98-B1A9-EC00-95F8-FDCE9AB442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991008"/>
            <a:ext cx="5628018" cy="464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84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C379-0F0F-1A4A-B20B-CF36BC55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CNN?</a:t>
            </a: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544CC-0831-DEC2-83C9-9DE8837AE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Conventional Neural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classifying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creates filters that recognize feature patterns, to classify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represented as 2D arrays. (Height, width, and RGB).</a:t>
            </a:r>
            <a:endParaRPr lang="en-AE" dirty="0"/>
          </a:p>
        </p:txBody>
      </p:sp>
      <p:pic>
        <p:nvPicPr>
          <p:cNvPr id="4098" name="Picture 2" descr="Decoding CNNs: A Beginner's Guide to Convolutional Neural Networks and  their Applications | by Ravjot Singh | Medium">
            <a:extLst>
              <a:ext uri="{FF2B5EF4-FFF2-40B4-BE49-F238E27FC236}">
                <a16:creationId xmlns:a16="http://schemas.microsoft.com/office/drawing/2014/main" id="{0C9708D1-295D-FF34-89F4-307EAAAA93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481" y="3172839"/>
            <a:ext cx="6172200" cy="277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Convolutional Neural Network - Python Geeks">
            <a:extLst>
              <a:ext uri="{FF2B5EF4-FFF2-40B4-BE49-F238E27FC236}">
                <a16:creationId xmlns:a16="http://schemas.microsoft.com/office/drawing/2014/main" id="{C25D2F20-09AE-33A9-F6FA-0339DD81B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6" name="AutoShape 6" descr="Convolutional Neural Network - Python Geeks">
            <a:extLst>
              <a:ext uri="{FF2B5EF4-FFF2-40B4-BE49-F238E27FC236}">
                <a16:creationId xmlns:a16="http://schemas.microsoft.com/office/drawing/2014/main" id="{EC26CAAF-D762-0E85-D02D-95B13E37BE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8" name="Picture 7" descr="A diagram of a number&#10;&#10;AI-generated content may be incorrect.">
            <a:extLst>
              <a:ext uri="{FF2B5EF4-FFF2-40B4-BE49-F238E27FC236}">
                <a16:creationId xmlns:a16="http://schemas.microsoft.com/office/drawing/2014/main" id="{6D6AB038-EFB2-09BD-6B47-6F3D6A604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873" y="301558"/>
            <a:ext cx="6944593" cy="243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41F5A-6CE1-6AAB-62E2-8C09F81E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lang="en-A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49B925-C02D-00C3-CB23-770C0FB63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8120" y="2899938"/>
            <a:ext cx="6172200" cy="196306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A498E-2BBC-1490-A76B-CCEFDABFE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Input Layer: </a:t>
            </a:r>
            <a:r>
              <a:rPr lang="en-US" dirty="0"/>
              <a:t>The image.</a:t>
            </a:r>
            <a:r>
              <a:rPr lang="en-AE" dirty="0"/>
              <a:t> width x height x depth (3).</a:t>
            </a:r>
          </a:p>
          <a:p>
            <a:r>
              <a:rPr lang="en-AE" b="1" dirty="0"/>
              <a:t>convolutional layers: </a:t>
            </a:r>
            <a:r>
              <a:rPr lang="en-AE" dirty="0"/>
              <a:t>Used to </a:t>
            </a:r>
            <a:r>
              <a:rPr lang="en-AE" dirty="0" err="1"/>
              <a:t>ext</a:t>
            </a:r>
            <a:r>
              <a:rPr lang="en-US" dirty="0" err="1"/>
              <a:t>ra</a:t>
            </a:r>
            <a:r>
              <a:rPr lang="en-AE" dirty="0" err="1"/>
              <a:t>ct</a:t>
            </a:r>
            <a:r>
              <a:rPr lang="en-AE" dirty="0"/>
              <a:t> features. Applies filters/kernels to the image and generate feature map</a:t>
            </a:r>
          </a:p>
          <a:p>
            <a:r>
              <a:rPr lang="en-US" b="1" dirty="0"/>
              <a:t>Activation Layer: </a:t>
            </a:r>
            <a:r>
              <a:rPr lang="en-US" dirty="0" err="1"/>
              <a:t>ReLu</a:t>
            </a:r>
            <a:r>
              <a:rPr lang="en-US" dirty="0"/>
              <a:t> function, makes negative values 0.</a:t>
            </a:r>
          </a:p>
          <a:p>
            <a:r>
              <a:rPr lang="en-US" b="1" dirty="0"/>
              <a:t>Pooling layer: </a:t>
            </a:r>
            <a:r>
              <a:rPr lang="en-US" dirty="0"/>
              <a:t>reduces image size. Faster computation + reduce overfitting.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180E66-CCC2-56BC-A82F-8D89D6993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61" y="457200"/>
            <a:ext cx="5380998" cy="1494047"/>
          </a:xfrm>
          <a:prstGeom prst="rect">
            <a:avLst/>
          </a:prstGeom>
        </p:spPr>
      </p:pic>
      <p:sp>
        <p:nvSpPr>
          <p:cNvPr id="13" name="Arrow: Up 12">
            <a:extLst>
              <a:ext uri="{FF2B5EF4-FFF2-40B4-BE49-F238E27FC236}">
                <a16:creationId xmlns:a16="http://schemas.microsoft.com/office/drawing/2014/main" id="{31FE1EB9-3C93-57D1-1E88-D3F765D68C87}"/>
              </a:ext>
            </a:extLst>
          </p:cNvPr>
          <p:cNvSpPr/>
          <p:nvPr/>
        </p:nvSpPr>
        <p:spPr>
          <a:xfrm>
            <a:off x="7062281" y="2057400"/>
            <a:ext cx="179440" cy="98735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814E15-5A3E-9518-06B5-0E7FE607D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554" y="5186992"/>
            <a:ext cx="3843473" cy="1363991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9D1D30B3-B178-220A-46C2-C1107AC6F53B}"/>
              </a:ext>
            </a:extLst>
          </p:cNvPr>
          <p:cNvSpPr/>
          <p:nvPr/>
        </p:nvSpPr>
        <p:spPr>
          <a:xfrm>
            <a:off x="7837714" y="4416879"/>
            <a:ext cx="171450" cy="7701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790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8552F-EFAF-789E-2285-C711C335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B1B8A-0471-F981-1D96-A170DC105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Kaggle</a:t>
            </a:r>
            <a:b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https://www.kaggle.com/datasets/mmohaiminulislam/vehicles-image-dataset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650DA1-1900-21B5-1F81-8736CA6F5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40572" y="1214313"/>
            <a:ext cx="5608830" cy="43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0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C656-3947-C3F2-5699-55E079D0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  <a:endParaRPr lang="en-A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E1C8BA-53CE-10DD-8FF3-4E1E45FBF83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024201"/>
            <a:ext cx="353013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150×150 color images (3 channels: RGB)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Layer 1: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filters, 3×3 kernel size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MaxPooling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1: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2×2 pooling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Layer 2: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filters, 3×3 kernel size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MaxPooling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 2: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2×2 pooling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Flatten Layer: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2D feature maps into a 1D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 (Fully Connected) Layer: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32 neurons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neurons (for 6 vehicle classes)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(multiclass classification)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C016EFC-18B9-93FE-C5CB-090AFB6C3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1852" y="2515765"/>
            <a:ext cx="7820148" cy="2217272"/>
          </a:xfrm>
        </p:spPr>
      </p:pic>
    </p:spTree>
    <p:extLst>
      <p:ext uri="{BB962C8B-B14F-4D97-AF65-F5344CB8AC3E}">
        <p14:creationId xmlns:p14="http://schemas.microsoft.com/office/powerpoint/2010/main" val="1088984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D5000-B17B-85E3-708C-CE83FC6E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Training Process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5AC67-591F-333F-48FF-2F2BE355A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Preprocessing</a:t>
            </a:r>
            <a:r>
              <a:rPr lang="en-US" sz="2000"/>
              <a:t>: rescale pixel values (0–1)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Data augmentation</a:t>
            </a:r>
            <a:r>
              <a:rPr lang="en-US" sz="2000"/>
              <a:t>: rotation, flip, zoom, shift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Optimizer</a:t>
            </a:r>
            <a:r>
              <a:rPr lang="en-US" sz="2000"/>
              <a:t>: Adam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40 epochs, batch size 32,150 x 150.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8B9D33-BB13-5805-305E-7D6F91953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9014" y="10298"/>
            <a:ext cx="3955962" cy="4457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72A15C-1F6B-6597-DBA3-6EE127813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702" y="4324351"/>
            <a:ext cx="4389120" cy="20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1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FF9AE-E7AA-B922-C392-32F594927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Challenges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59845-3A93-AC5F-C97F-835BF2826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Limited dataset size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Overfitting</a:t>
            </a:r>
            <a:r>
              <a:rPr lang="en-US" sz="2000"/>
              <a:t>: model memorized training data.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Validation accuracy lower than training accuracy.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Long time to train.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Solutions</a:t>
            </a:r>
            <a:r>
              <a:rPr lang="en-US" sz="2000"/>
              <a:t>: augmentation &amp; resizing of images, and redesigning the model, using a different dataset…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5CEB907-0F65-E1B6-1A28-40B7478B9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9877" y="774285"/>
            <a:ext cx="3622699" cy="25811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72698F-AFB8-B23B-93E8-215890D7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812" y="3575074"/>
            <a:ext cx="3740830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203EC-3DD9-2066-EEC8-5684202F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212DB-3748-4658-623F-67B6FB1D8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803712"/>
            <a:ext cx="9144000" cy="156368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https://colab.research.google.com/drive/1MMA2T12bF5I4FzzUFMh5Ghjq6shznVwB?usp=sharing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814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772AB-F899-6B4B-E062-7727979E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A7BDF26-4B7F-4820-2CDA-FD36D1F50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3591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986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369</Words>
  <Application>Microsoft Office PowerPoint</Application>
  <PresentationFormat>Widescreen</PresentationFormat>
  <Paragraphs>60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Transportation access classification Using CNNs</vt:lpstr>
      <vt:lpstr>Project goal</vt:lpstr>
      <vt:lpstr>What is a CNN?</vt:lpstr>
      <vt:lpstr>How it works</vt:lpstr>
      <vt:lpstr>Project Dataset</vt:lpstr>
      <vt:lpstr>Model Architecture</vt:lpstr>
      <vt:lpstr>Training Process</vt:lpstr>
      <vt:lpstr>Challenges</vt:lpstr>
      <vt:lpstr>Demo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Reem Ali Alayan Alkaabi</dc:creator>
  <cp:lastModifiedBy>Al Reem Ali Alayan Alkaabi</cp:lastModifiedBy>
  <cp:revision>1</cp:revision>
  <dcterms:created xsi:type="dcterms:W3CDTF">2025-04-28T06:49:38Z</dcterms:created>
  <dcterms:modified xsi:type="dcterms:W3CDTF">2025-04-28T19:54:17Z</dcterms:modified>
</cp:coreProperties>
</file>